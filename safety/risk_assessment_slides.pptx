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445E"/>
          </a:solidFill>
          <a:ln/>
        </p:spPr>
      </p:sp>
      <p:sp>
        <p:nvSpPr>
          <p:cNvPr id="3" name="Shape 1"/>
          <p:cNvSpPr/>
          <p:nvPr/>
        </p:nvSpPr>
        <p:spPr>
          <a:xfrm>
            <a:off x="5303520" y="-1828800"/>
            <a:ext cx="5943600" cy="594360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2926080"/>
            <a:ext cx="2560320" cy="2560320"/>
          </a:xfrm>
          <a:prstGeom prst="ellipse">
            <a:avLst/>
          </a:prstGeom>
          <a:solidFill>
            <a:srgbClr val="02C39A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REVIEWER GUIDE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7132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 Guidance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 for Subject Matter Experts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Windmill &amp; The Barn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Safety Team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F8F9"/>
          </a:solidFill>
          <a:ln/>
        </p:spPr>
      </p:sp>
      <p:sp>
        <p:nvSpPr>
          <p:cNvPr id="3" name="Shape 1"/>
          <p:cNvSpPr/>
          <p:nvPr/>
        </p:nvSpPr>
        <p:spPr>
          <a:xfrm>
            <a:off x="5212080" y="365760"/>
            <a:ext cx="3566160" cy="4389120"/>
          </a:xfrm>
          <a:prstGeom prst="roundRect">
            <a:avLst>
              <a:gd name="adj" fmla="val 3846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5349240" y="777240"/>
            <a:ext cx="3291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"You already do this dozens of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times every day."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349240" y="233172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you cross a road, check your mirrors, or lift a heavy box — you are already intuitively assessing risk.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 is to take that natural intuition and apply it in a structured way to our workplace.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Risk Assessment?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45262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check that our processes are as safe as reasonably practicable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Team has pre-drafted 80–90% of the document already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role as an SME: calibrate, validate, and refine — not start from scratch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practical: reflect the reality of your facility every day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5-Step Risk Assessment Framework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1536192" cy="2926080"/>
          </a:xfrm>
          <a:prstGeom prst="roundRect">
            <a:avLst>
              <a:gd name="adj" fmla="val 7143"/>
            </a:avLst>
          </a:prstGeom>
          <a:solidFill>
            <a:srgbClr val="028090"/>
          </a:solidFill>
          <a:ln/>
        </p:spPr>
      </p:sp>
      <p:sp>
        <p:nvSpPr>
          <p:cNvPr id="5" name="Shape 3"/>
          <p:cNvSpPr/>
          <p:nvPr/>
        </p:nvSpPr>
        <p:spPr>
          <a:xfrm>
            <a:off x="813816" y="1197864"/>
            <a:ext cx="548640" cy="548640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13816" y="1197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874520"/>
            <a:ext cx="1353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135331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task or process are we assessing?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56232" y="23317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039112" y="1051560"/>
            <a:ext cx="1536192" cy="2926080"/>
          </a:xfrm>
          <a:prstGeom prst="roundRect">
            <a:avLst>
              <a:gd name="adj" fmla="val 7143"/>
            </a:avLst>
          </a:prstGeom>
          <a:solidFill>
            <a:srgbClr val="0195A6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197864"/>
            <a:ext cx="548640" cy="548640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2532888" y="1197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130552" y="1874520"/>
            <a:ext cx="1353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30552" y="2651760"/>
            <a:ext cx="135331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cause harm in this activity?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75304" y="23317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758184" y="1051560"/>
            <a:ext cx="1536192" cy="2926080"/>
          </a:xfrm>
          <a:prstGeom prst="roundRect">
            <a:avLst>
              <a:gd name="adj" fmla="val 7143"/>
            </a:avLst>
          </a:prstGeom>
          <a:solidFill>
            <a:srgbClr val="02C39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51960" y="1197864"/>
            <a:ext cx="548640" cy="548640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1197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849624" y="1874520"/>
            <a:ext cx="1353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Injury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49624" y="2651760"/>
            <a:ext cx="135331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could be hurt, and how seriously?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94376" y="23317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77256" y="1051560"/>
            <a:ext cx="1536192" cy="2926080"/>
          </a:xfrm>
          <a:prstGeom prst="roundRect">
            <a:avLst>
              <a:gd name="adj" fmla="val 7143"/>
            </a:avLst>
          </a:prstGeom>
          <a:solidFill>
            <a:srgbClr val="E8A838"/>
          </a:solidFill>
          <a:ln/>
        </p:spPr>
      </p:sp>
      <p:sp>
        <p:nvSpPr>
          <p:cNvPr id="23" name="Shape 21"/>
          <p:cNvSpPr/>
          <p:nvPr/>
        </p:nvSpPr>
        <p:spPr>
          <a:xfrm>
            <a:off x="5971032" y="1197864"/>
            <a:ext cx="548640" cy="548640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971032" y="1197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568696" y="1874520"/>
            <a:ext cx="1353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68696" y="2651760"/>
            <a:ext cx="135331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risky is it with no controls in place?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13448" y="23317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96328" y="1051560"/>
            <a:ext cx="1536192" cy="2926080"/>
          </a:xfrm>
          <a:prstGeom prst="roundRect">
            <a:avLst>
              <a:gd name="adj" fmla="val 7143"/>
            </a:avLst>
          </a:prstGeom>
          <a:solidFill>
            <a:srgbClr val="1C6EA4"/>
          </a:solidFill>
          <a:ln/>
        </p:spPr>
      </p:sp>
      <p:sp>
        <p:nvSpPr>
          <p:cNvPr id="29" name="Shape 27"/>
          <p:cNvSpPr/>
          <p:nvPr/>
        </p:nvSpPr>
        <p:spPr>
          <a:xfrm>
            <a:off x="7690104" y="1197864"/>
            <a:ext cx="548640" cy="548640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7690104" y="1197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287768" y="1874520"/>
            <a:ext cx="1353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Residual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87768" y="2651760"/>
            <a:ext cx="135331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reduces the risk, and by how much?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5-step logic applies to every row in the risk assessment spreadsheet.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F8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Real-World Example: Crossing the Road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5-step framework applied to an everyday scenario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44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ACTIVITY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673352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Crossing the road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77540" y="123444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0195A6"/>
          </a:solidFill>
          <a:ln/>
        </p:spPr>
      </p:sp>
      <p:sp>
        <p:nvSpPr>
          <p:cNvPr id="9" name="Text 7"/>
          <p:cNvSpPr/>
          <p:nvPr/>
        </p:nvSpPr>
        <p:spPr>
          <a:xfrm>
            <a:off x="3314700" y="1344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HAZARD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314700" y="1673352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Moving vehicles: cars, HGVs, bicycles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123444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028A7A"/>
          </a:solidFill>
          <a:ln/>
        </p:spPr>
      </p:sp>
      <p:sp>
        <p:nvSpPr>
          <p:cNvPr id="12" name="Text 10"/>
          <p:cNvSpPr/>
          <p:nvPr/>
        </p:nvSpPr>
        <p:spPr>
          <a:xfrm>
            <a:off x="6172200" y="1344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HARM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172200" y="1673352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Struck-by incident: minor injury to fatality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292608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E8A838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035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INITIAL RATING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3364992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"Almost Certain" × "Fatal"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VERY HIGH RISK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177540" y="292608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3314700" y="3035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CONTROLS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14700" y="3364992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Crossings · Signals · Hi-Vis · Look both ways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35040" y="292608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3035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RATING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72200" y="3364992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Likelihood drops to "Rare"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ACCEPTABLE RISK ✓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Rating: Likelihood Scale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probable is it that this hazard leads to harm?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94360" cy="749808"/>
          </a:xfrm>
          <a:prstGeom prst="roundRect">
            <a:avLst>
              <a:gd name="adj" fmla="val 10769"/>
            </a:avLst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188720" y="1280160"/>
            <a:ext cx="1920240" cy="749808"/>
          </a:xfrm>
          <a:prstGeom prst="roundRect">
            <a:avLst>
              <a:gd name="adj" fmla="val 8537"/>
            </a:avLst>
          </a:prstGeom>
          <a:solidFill>
            <a:srgbClr val="4CAF50">
              <a:alpha val="16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28016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Rare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unlikely to occur under normal operating conditions.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176272"/>
            <a:ext cx="594360" cy="749808"/>
          </a:xfrm>
          <a:prstGeom prst="roundRect">
            <a:avLst>
              <a:gd name="adj" fmla="val 10769"/>
            </a:avLst>
          </a:prstGeom>
          <a:solidFill>
            <a:srgbClr val="F9C74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76272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1188720" y="2176272"/>
            <a:ext cx="1920240" cy="749808"/>
          </a:xfrm>
          <a:prstGeom prst="roundRect">
            <a:avLst>
              <a:gd name="adj" fmla="val 8537"/>
            </a:avLst>
          </a:prstGeom>
          <a:solidFill>
            <a:srgbClr val="F9C74F">
              <a:alpha val="16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2176272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91840" y="2267712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occur at some point; plausible under specific circumstances.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594360" cy="749808"/>
          </a:xfrm>
          <a:prstGeom prst="roundRect">
            <a:avLst>
              <a:gd name="adj" fmla="val 10769"/>
            </a:avLst>
          </a:prstGeom>
          <a:solidFill>
            <a:srgbClr val="F4841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072384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1188720" y="3072384"/>
            <a:ext cx="1920240" cy="749808"/>
          </a:xfrm>
          <a:prstGeom prst="roundRect">
            <a:avLst>
              <a:gd name="adj" fmla="val 8537"/>
            </a:avLst>
          </a:prstGeom>
          <a:solidFill>
            <a:srgbClr val="F4841E">
              <a:alpha val="1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307238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Likely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91840" y="3163824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chance of occurrence if unchecked or during routine tasks.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57200" y="3968496"/>
            <a:ext cx="594360" cy="749808"/>
          </a:xfrm>
          <a:prstGeom prst="roundRect">
            <a:avLst>
              <a:gd name="adj" fmla="val 10769"/>
            </a:avLst>
          </a:prstGeom>
          <a:solidFill>
            <a:srgbClr val="E6394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968496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1188720" y="3968496"/>
            <a:ext cx="1920240" cy="749808"/>
          </a:xfrm>
          <a:prstGeom prst="roundRect">
            <a:avLst>
              <a:gd name="adj" fmla="val 8537"/>
            </a:avLst>
          </a:prstGeom>
          <a:solidFill>
            <a:srgbClr val="E63946">
              <a:alpha val="16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188720" y="3968496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Almost Certain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91840" y="4059936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to occur frequently or almost guaranteed without controls.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F8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Rating: Severity Scale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serious would the harm be if this hazard caused an incident?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94360" cy="749808"/>
          </a:xfrm>
          <a:prstGeom prst="roundRect">
            <a:avLst>
              <a:gd name="adj" fmla="val 10769"/>
            </a:avLst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188720" y="1280160"/>
            <a:ext cx="2194560" cy="749808"/>
          </a:xfrm>
          <a:prstGeom prst="roundRect">
            <a:avLst>
              <a:gd name="adj" fmla="val 8537"/>
            </a:avLst>
          </a:prstGeom>
          <a:solidFill>
            <a:srgbClr val="4CAF50">
              <a:alpha val="16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2801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Minor Injury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20440" y="1371600"/>
            <a:ext cx="5212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treatment only — cuts, minor scrapes. No lost time from work.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76272"/>
            <a:ext cx="594360" cy="749808"/>
          </a:xfrm>
          <a:prstGeom prst="roundRect">
            <a:avLst>
              <a:gd name="adj" fmla="val 10769"/>
            </a:avLst>
          </a:prstGeom>
          <a:solidFill>
            <a:srgbClr val="F9C74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76272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1188720" y="2176272"/>
            <a:ext cx="2194560" cy="749808"/>
          </a:xfrm>
          <a:prstGeom prst="roundRect">
            <a:avLst>
              <a:gd name="adj" fmla="val 8537"/>
            </a:avLst>
          </a:prstGeom>
          <a:solidFill>
            <a:srgbClr val="F9C74F">
              <a:alpha val="16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217627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Lost Time Injury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2267712"/>
            <a:ext cx="5212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treatment or time off required (e.g. uncomplicated fractures, concussions).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594360" cy="749808"/>
          </a:xfrm>
          <a:prstGeom prst="roundRect">
            <a:avLst>
              <a:gd name="adj" fmla="val 10769"/>
            </a:avLst>
          </a:prstGeom>
          <a:solidFill>
            <a:srgbClr val="F4841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072384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1188720" y="3072384"/>
            <a:ext cx="2194560" cy="749808"/>
          </a:xfrm>
          <a:prstGeom prst="roundRect">
            <a:avLst>
              <a:gd name="adj" fmla="val 8537"/>
            </a:avLst>
          </a:prstGeom>
          <a:solidFill>
            <a:srgbClr val="F4841E">
              <a:alpha val="1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307238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Life-Changing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520440" y="3163824"/>
            <a:ext cx="5212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or severe disability — paralysis, limb loss, permanent mobility aid required.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968496"/>
            <a:ext cx="594360" cy="749808"/>
          </a:xfrm>
          <a:prstGeom prst="roundRect">
            <a:avLst>
              <a:gd name="adj" fmla="val 10769"/>
            </a:avLst>
          </a:prstGeom>
          <a:solidFill>
            <a:srgbClr val="E6394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968496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1188720" y="3968496"/>
            <a:ext cx="2194560" cy="749808"/>
          </a:xfrm>
          <a:prstGeom prst="roundRect">
            <a:avLst>
              <a:gd name="adj" fmla="val 8537"/>
            </a:avLst>
          </a:prstGeom>
          <a:solidFill>
            <a:srgbClr val="E63946">
              <a:alpha val="16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188720" y="396849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Fatality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20440" y="4059936"/>
            <a:ext cx="5212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or multiple loss of life.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in Practice: MHE &amp; Dock Operations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 from Inbound/Outbound — the same logic applies across all operational areas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749040" cy="3520440"/>
          </a:xfrm>
          <a:prstGeom prst="roundRect">
            <a:avLst>
              <a:gd name="adj" fmla="val 2597"/>
            </a:avLst>
          </a:prstGeom>
          <a:solidFill>
            <a:srgbClr val="E63946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898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Hazards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901952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struck by moving MHE or forklift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Unsecured loads falling during movement at loading bays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0" y="1234440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4CAF50">
              <a:alpha val="1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389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Measures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1901952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Segmented pedestrian walkways &amp; physical barriers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MHE or one pedestrian in trailer — never both simultaneously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horn sounding at all blind corners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Lux lighting maintained &amp; auto-repaired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Compulsory Hi-Vis vests &amp; safety footwear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Licensed, trained &amp; audited MHE operators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no-running policy across all operational areas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F8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4-Step Review Process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open the risk assessment spreadsheet, work through these steps in order: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397764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444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44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463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Hazard Completeness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118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major, realistic ways someone could be hurt captured? Stay top-level — do not over-complicate by listing every minor variation.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61872"/>
            <a:ext cx="397764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892040" y="1444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444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32120" y="1463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 Descriptions &amp; Logic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6118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activity, hazard, and harm description accurately reflect current equipment and processes at your site?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63824"/>
            <a:ext cx="397764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34670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3649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Control Realities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913632"/>
            <a:ext cx="36118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"Is this control actually happening on the shop floor every day?" YES = confirm. NO or BLURRED = highlight it so retraining or toolbox talks can be arranged.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3163824"/>
            <a:ext cx="397764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892040" y="334670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532120" y="33649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 Additions or Removals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913632"/>
            <a:ext cx="36118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localized nuances specific to your site or shift. Remove irrelevant lines. Always give a clear operational reason for any change.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 &amp; Legal Position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840480" cy="3611880"/>
          </a:xfrm>
          <a:prstGeom prst="roundRect">
            <a:avLst>
              <a:gd name="adj" fmla="val 3038"/>
            </a:avLst>
          </a:prstGeom>
          <a:solidFill>
            <a:srgbClr val="028090">
              <a:alpha val="9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704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 as an SME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Consultant &amp; Coach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practical day-to-day expertise to validate the document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the assessment reflects the reality of your facility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gaps honestly — that is the whole point of the review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05840"/>
            <a:ext cx="3840480" cy="3611880"/>
          </a:xfrm>
          <a:prstGeom prst="roundRect">
            <a:avLst>
              <a:gd name="adj" fmla="val 3038"/>
            </a:avLst>
          </a:prstGeom>
          <a:solidFill>
            <a:srgbClr val="02C39A">
              <a:alpha val="1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704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17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Liability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0" y="1737360"/>
            <a:ext cx="3474720" cy="777240"/>
          </a:xfrm>
          <a:prstGeom prst="roundRect">
            <a:avLst>
              <a:gd name="adj" fmla="val 11765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7373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 NOT hold legal liability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0" y="26517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legal responsibility sits with: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309067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Manager — document owner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Leader — operational accountability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24528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5445E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22452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keep text concise. Fewer, clearer pages are far more effective for operatives and external regulators.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445E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2286000"/>
            <a:ext cx="5029200" cy="5029200"/>
          </a:xfrm>
          <a:prstGeom prst="ellipse">
            <a:avLst/>
          </a:prstGeom>
          <a:solidFill>
            <a:srgbClr val="02809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-1371600"/>
            <a:ext cx="3657600" cy="3657600"/>
          </a:xfrm>
          <a:prstGeom prst="ellipse">
            <a:avLst/>
          </a:prstGeom>
          <a:solidFill>
            <a:srgbClr val="02C39A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2860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Cycles &amp; Triggers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028090">
              <a:alpha val="22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43000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938528"/>
            <a:ext cx="2423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review cycle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 assessments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5156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028090">
              <a:alpha val="2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143000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Years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83280" y="1938528"/>
            <a:ext cx="2423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maximum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reviews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5156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028090">
              <a:alpha val="2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143000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217920" y="1938528"/>
            <a:ext cx="2423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after accidents,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near-misses or process changes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0175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triggers an immediate review: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49300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accident or near-miss incident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redesign or task change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layout change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equipment installation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C5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support or questions, contact your local Health &amp; Safety Team.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2026-08-20T11:21:28Z</dcterms:created>
  <dcterms:modified xsi:type="dcterms:W3CDTF">2026-08-20T11:21:28Z</dcterms:modified>
</cp:coreProperties>
</file>