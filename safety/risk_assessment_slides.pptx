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GUIDE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&amp; Outbound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577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Windmill &amp; The Barn  |  Subject Matter Expert Guide  | 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Risk Assessment?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"Simply checking that our processes are as safe as possible."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news? You already do this every day — automatically.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crossing a road, pulling out of a junction, or lifting heavy shopping, your brain runs a quick risk calculation without you even realising it.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HelloFresh, we formalise this process to protect our team and demonstrate that safety has been thoughtfully considered.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0" y="1005840"/>
            <a:ext cx="5486400" cy="15544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6" name="Shape 4"/>
          <p:cNvSpPr/>
          <p:nvPr/>
        </p:nvSpPr>
        <p:spPr>
          <a:xfrm>
            <a:off x="6355080" y="1325880"/>
            <a:ext cx="822960" cy="82296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0" y="12344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out of a junction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17373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clear? Is it safe to go?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5486400" cy="15544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3108960"/>
            <a:ext cx="822960" cy="82296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3017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35204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both ways. Use a crossing.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572000"/>
            <a:ext cx="5486400" cy="155448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4892040"/>
            <a:ext cx="822960" cy="82296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4892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48006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heavy shopping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5303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your knees. Ask for help.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can sound scary — but you've been doing risk assessment your whole life. We're just writing it down.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5-Step Risk Assessment Framework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542032" y="1737360"/>
            <a:ext cx="109728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868680"/>
            <a:ext cx="914400" cy="91440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084832" cy="2560320"/>
          </a:xfrm>
          <a:prstGeom prst="rect">
            <a:avLst/>
          </a:prstGeom>
          <a:solidFill>
            <a:srgbClr val="EBF3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993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being done?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6592" y="1737360"/>
            <a:ext cx="109728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36976" y="868680"/>
            <a:ext cx="914400" cy="91440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651760" y="1965960"/>
            <a:ext cx="2084832" cy="2560320"/>
          </a:xfrm>
          <a:prstGeom prst="rect">
            <a:avLst/>
          </a:prstGeom>
          <a:solidFill>
            <a:srgbClr val="EBF3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1031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993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wrong?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31152" y="1737360"/>
            <a:ext cx="109728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31536" y="868680"/>
            <a:ext cx="914400" cy="91440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2084832" cy="2560320"/>
          </a:xfrm>
          <a:prstGeom prst="rect">
            <a:avLst/>
          </a:prstGeom>
          <a:solidFill>
            <a:srgbClr val="EBF3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031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of Harm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1993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be hurt?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25712" y="1737360"/>
            <a:ext cx="109728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6096" y="868680"/>
            <a:ext cx="914400" cy="9144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626096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040880" y="1965960"/>
            <a:ext cx="2084832" cy="256032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1031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Rating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743200"/>
            <a:ext cx="1993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serious?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20656" y="868680"/>
            <a:ext cx="914400" cy="91440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28" name="Text 26"/>
          <p:cNvSpPr/>
          <p:nvPr/>
        </p:nvSpPr>
        <p:spPr>
          <a:xfrm>
            <a:off x="9820656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235440" y="1965960"/>
            <a:ext cx="2084832" cy="2560320"/>
          </a:xfrm>
          <a:prstGeom prst="rect">
            <a:avLst/>
          </a:prstGeom>
          <a:solidFill>
            <a:srgbClr val="EBF3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210312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81160" y="2743200"/>
            <a:ext cx="1993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risk?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463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putting controls in place, we re-assess the risk rating to show the Residual Risk — the remaining level of risk once all measures are applied. The goal is to bring all risks to an acceptable level.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Scale 1: Probability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it that someone could be harmed? Rate this BEFORE controls are in place.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88920" cy="5120640"/>
          </a:xfrm>
          <a:prstGeom prst="rect">
            <a:avLst/>
          </a:prstGeom>
          <a:solidFill>
            <a:srgbClr val="1E4A6B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788920" cy="1463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unlikely to happen under normal circumstances. Could theoretically occur.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788920" cy="5120640"/>
          </a:xfrm>
          <a:prstGeom prst="rect">
            <a:avLst/>
          </a:prstGeom>
          <a:solidFill>
            <a:srgbClr val="1E4A6B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417320"/>
            <a:ext cx="2788920" cy="146304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9300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happen occasionally but not routinely expected.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788920" cy="5120640"/>
          </a:xfrm>
          <a:prstGeom prst="rect">
            <a:avLst/>
          </a:prstGeom>
          <a:solidFill>
            <a:srgbClr val="1E4A6B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2788920" cy="1463040"/>
          </a:xfrm>
          <a:prstGeom prst="rect">
            <a:avLst/>
          </a:prstGeom>
          <a:solidFill>
            <a:srgbClr val="BA4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occur at some point during normal operations.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0" y="1417320"/>
            <a:ext cx="2788920" cy="5120640"/>
          </a:xfrm>
          <a:prstGeom prst="rect">
            <a:avLst/>
          </a:prstGeom>
          <a:solidFill>
            <a:srgbClr val="1E4A6B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417320"/>
            <a:ext cx="2788920" cy="146304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32688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4516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happen repeatedly or is practically inevitable without controls.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Scale 2: Severity of Injury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serious could the injury be if the hazard actually occurs?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88920" cy="5120640"/>
          </a:xfrm>
          <a:prstGeom prst="rect">
            <a:avLst/>
          </a:prstGeom>
          <a:solidFill>
            <a:srgbClr val="F8FAFE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788920" cy="14630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cuts, bruising,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soreness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off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788920" cy="5120640"/>
          </a:xfrm>
          <a:prstGeom prst="rect">
            <a:avLst/>
          </a:prstGeom>
          <a:solidFill>
            <a:srgbClr val="F8FAFE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417320"/>
            <a:ext cx="2788920" cy="146304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bones,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concussion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off work required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788920" cy="5120640"/>
          </a:xfrm>
          <a:prstGeom prst="rect">
            <a:avLst/>
          </a:prstGeom>
          <a:solidFill>
            <a:srgbClr val="F8FAFE"/>
          </a:solidFill>
          <a:ln w="12700">
            <a:solidFill>
              <a:srgbClr val="BA4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2788920" cy="1463040"/>
          </a:xfrm>
          <a:prstGeom prst="rect">
            <a:avLst/>
          </a:prstGeom>
          <a:solidFill>
            <a:srgbClr val="BA4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Life-Changing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Paralysis, permanent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disability, walking aid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life impact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35440" y="1417320"/>
            <a:ext cx="2788920" cy="5120640"/>
          </a:xfrm>
          <a:prstGeom prst="rect">
            <a:avLst/>
          </a:prstGeom>
          <a:solidFill>
            <a:srgbClr val="F8FAFE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417320"/>
            <a:ext cx="2788920" cy="146304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4173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326880" y="3017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45168" y="3794760"/>
            <a:ext cx="256946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serious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Rating = Probability x Severity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194560" y="59436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 (1 = Rare  →  4 = Almost Certain)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94560" y="1005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86200" y="1005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1005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69480" y="1005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 rot="16200000">
            <a:off x="-1645920" y="3337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(1 = First Aid  →  4 = Fatality)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1691640"/>
            <a:ext cx="169164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7373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1691640"/>
            <a:ext cx="169164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7373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1691640"/>
            <a:ext cx="169164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7373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69480" y="1691640"/>
            <a:ext cx="1691640" cy="1005840"/>
          </a:xfrm>
          <a:prstGeom prst="rect">
            <a:avLst/>
          </a:prstGeom>
          <a:solidFill>
            <a:srgbClr val="FDEB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373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2697480"/>
            <a:ext cx="169164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86200" y="2697480"/>
            <a:ext cx="1691640" cy="1005840"/>
          </a:xfrm>
          <a:prstGeom prst="rect">
            <a:avLst/>
          </a:prstGeom>
          <a:solidFill>
            <a:srgbClr val="FDEB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2697480"/>
            <a:ext cx="1691640" cy="1005840"/>
          </a:xfrm>
          <a:prstGeom prst="rect">
            <a:avLst/>
          </a:prstGeom>
          <a:solidFill>
            <a:srgbClr val="FDEB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2697480"/>
            <a:ext cx="1691640" cy="1005840"/>
          </a:xfrm>
          <a:prstGeom prst="rect">
            <a:avLst/>
          </a:prstGeom>
          <a:solidFill>
            <a:srgbClr val="FADB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74320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94560" y="3703320"/>
            <a:ext cx="1691640" cy="100584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49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86200" y="3703320"/>
            <a:ext cx="1691640" cy="1005840"/>
          </a:xfrm>
          <a:prstGeom prst="rect">
            <a:avLst/>
          </a:prstGeom>
          <a:solidFill>
            <a:srgbClr val="FDEB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749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3703320"/>
            <a:ext cx="1691640" cy="1005840"/>
          </a:xfrm>
          <a:prstGeom prst="rect">
            <a:avLst/>
          </a:prstGeom>
          <a:solidFill>
            <a:srgbClr val="FADB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3749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69480" y="3703320"/>
            <a:ext cx="1691640" cy="1005840"/>
          </a:xfrm>
          <a:prstGeom prst="rect">
            <a:avLst/>
          </a:prstGeom>
          <a:solidFill>
            <a:srgbClr val="E8DA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74904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94560" y="4709160"/>
            <a:ext cx="1691640" cy="1005840"/>
          </a:xfrm>
          <a:prstGeom prst="rect">
            <a:avLst/>
          </a:prstGeom>
          <a:solidFill>
            <a:srgbClr val="FDEB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4754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86200" y="4709160"/>
            <a:ext cx="1691640" cy="1005840"/>
          </a:xfrm>
          <a:prstGeom prst="rect">
            <a:avLst/>
          </a:prstGeom>
          <a:solidFill>
            <a:srgbClr val="FADB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4754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77840" y="4709160"/>
            <a:ext cx="1691640" cy="1005840"/>
          </a:xfrm>
          <a:prstGeom prst="rect">
            <a:avLst/>
          </a:prstGeom>
          <a:solidFill>
            <a:srgbClr val="E8DA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4754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69480" y="4709160"/>
            <a:ext cx="1691640" cy="1005840"/>
          </a:xfrm>
          <a:prstGeom prst="rect">
            <a:avLst/>
          </a:prstGeom>
          <a:solidFill>
            <a:srgbClr val="E8DA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47548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V.HIGH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3544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35440" y="1554480"/>
            <a:ext cx="347472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0" y="1554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(1-3)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235440" y="2057400"/>
            <a:ext cx="347472" cy="347472"/>
          </a:xfrm>
          <a:prstGeom prst="rect">
            <a:avLst/>
          </a:prstGeom>
          <a:solidFill>
            <a:srgbClr val="FDEBD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0" y="2057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(4-6)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35440" y="2560320"/>
            <a:ext cx="347472" cy="347472"/>
          </a:xfrm>
          <a:prstGeom prst="rect">
            <a:avLst/>
          </a:prstGeom>
          <a:solidFill>
            <a:srgbClr val="FADBD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(7-9)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0" y="3063240"/>
            <a:ext cx="347472" cy="347472"/>
          </a:xfrm>
          <a:prstGeom prst="rect">
            <a:avLst/>
          </a:prstGeom>
          <a:solidFill>
            <a:srgbClr val="E8DAE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30632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 (10-16)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in Action: Crossing a Road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14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960120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0149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road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73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618488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73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Struck by moving traffic (car, HGV, bicycle)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Harm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276856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struck by a vehicle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Injuries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2935224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9900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Bruises  |  Broken bones  |  Concussion  |  Fatality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484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(no controls)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93592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6484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Likely (step out without looking on a 30mph road)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068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4251960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3068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— Life-changing injury or fatality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10328"/>
            <a:ext cx="3108960" cy="566928"/>
          </a:xfrm>
          <a:prstGeom prst="rect">
            <a:avLst/>
          </a:prstGeom>
          <a:solidFill>
            <a:srgbClr val="1A3C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965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0" y="4910328"/>
            <a:ext cx="8229600" cy="56692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9651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9-12  |  HIGH to VERY HIGH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650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Reduce the Risk: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crossing points  |  Traffic lights  |  Hi-vis vests  |  Speed ramps  |  Street lighting  |  Lollipop marshals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in Action: The Dock Area (MHE)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14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960120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01498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unloading trailers using MHE (PPT / Reach Truck)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73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618488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73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struck by MHE  |  Unstable load collapsing onto operator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Harm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276856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struck by a forklift or falling 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Injuries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2935224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9900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injury including life-changing injury or fatality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93592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484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(no controls)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93592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6484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— Possible to Likely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3108960" cy="566928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068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4251960"/>
            <a:ext cx="8229600" cy="566928"/>
          </a:xfrm>
          <a:prstGeom prst="rect">
            <a:avLst/>
          </a:prstGeom>
          <a:solidFill>
            <a:srgbClr val="F8FAFE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3068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— Life-changing injury or fatality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10328"/>
            <a:ext cx="3108960" cy="566928"/>
          </a:xfrm>
          <a:prstGeom prst="rect">
            <a:avLst/>
          </a:prstGeom>
          <a:solidFill>
            <a:srgbClr val="1A3C5A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965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0" y="4910328"/>
            <a:ext cx="822960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9351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49651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5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 |  MEDIUM to HIGH (before controls applied)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650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 Already in Place: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ABA-trained drivers  |  7kph speed limit  |  Horn use at blind spots  |  Hi-vis mandatory  |  Pedestrian-only routes  |  3m separation rule  |  Pre-use inspections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 as an SME Reviewer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5577840"/>
          </a:xfrm>
          <a:prstGeom prst="rect">
            <a:avLst/>
          </a:prstGeom>
          <a:solidFill>
            <a:srgbClr val="EB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51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ARE...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Subject Matter Expert who knows the area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contributor and consultant — legally named in the document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2552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Empowered to add, challenge, or remove any entry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9684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Supported by the safety team throughout the 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6817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Someone who can flag gaps between policy and real practice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5394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Doing something that can be named in performance reviews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5394960" cy="55778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05840"/>
            <a:ext cx="539496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0515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NOT...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person responsible for signing off the document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Safety Manager — they retain ownership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32552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Legally liable for the final risk assessment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9684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Required to start from a blank page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6817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Expected to be a safety professional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Process: 5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04672" cy="804672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" y="1901952"/>
            <a:ext cx="1097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005840"/>
            <a:ext cx="10241280" cy="96012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0607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463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given a pre-populated risk assessment — already 80-90% complete. You are not starting from scratch.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04672" cy="804672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2848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" y="3017520"/>
            <a:ext cx="1097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2121408"/>
            <a:ext cx="10241280" cy="96012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1762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Hazards Are Captured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2578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the ways someone could get hurt in your area covered? Draw on your daily experience. Add or remove entries with a brief reason.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804672" cy="804672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28416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" y="4133088"/>
            <a:ext cx="1097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3236976"/>
            <a:ext cx="10241280" cy="96012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32918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Risk Ratings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6941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Probability and Severity scores feel right for your site? Assess likelihood WITHOUT controls in place first, then with.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43984"/>
            <a:ext cx="804672" cy="804672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4398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" y="5248656"/>
            <a:ext cx="109728" cy="21945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63040" y="4352544"/>
            <a:ext cx="10241280" cy="96012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4074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Control Measures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480974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listed controls actually in place? Be honest. If policy exists but practice doesn't match — flag it. That's how we improve.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559552"/>
            <a:ext cx="804672" cy="804672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559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63040" y="5468112"/>
            <a:ext cx="10241280" cy="96012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55229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Your Team &amp; Hand 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00200" y="59253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your colleagues if helpful. Complete your review and return it to the safety team, who will consolidate and log the final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Hazards in Our Risk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categories of risk captured in the Inbound &amp; Outbound assessment: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Collapse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Double-stacked pallets, unsecure loads falling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Collision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MHE, HGV, vans in yard and dock areas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32588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69164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from Height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doors, dock levellers, MHE cab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747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Injuries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doors, dock levellers, trailer drive-off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310896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4747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Struck by MHE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or moving vehicle contact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10896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347472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injuries during unloading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25780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257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6304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Slips, Trips &amp; Falls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5577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housekeeping, icy conditions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489204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525780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257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5577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Ice, snow, cold — outdoor operations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21040" y="4892040"/>
            <a:ext cx="3749040" cy="1600200"/>
          </a:xfrm>
          <a:prstGeom prst="rect">
            <a:avLst/>
          </a:prstGeom>
          <a:solidFill>
            <a:srgbClr val="1E4A6B"/>
          </a:solidFill>
          <a:ln w="12700">
            <a:solidFill>
              <a:srgbClr val="2E6A9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525780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5257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326880" y="5029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26880" y="5577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entering warehouse through bay doors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 When Reviewing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07008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7008" y="109728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hazards captured?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5819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actually happens day-to-day in your area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560320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60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07008" y="245059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descriptions accurate for your site?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93522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Windmill and The Barn may differ — flag site-specific differences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913632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07008" y="380390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probability scores realistic?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428853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likelihood WITHOUT controls in place first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065776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5266944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266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07008" y="515721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severity scores appropriate?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56418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worst-case outcome, not just the most likely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005840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1207008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59168" y="109728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control measures actually in place?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9168" y="15819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— note where policy and practice don't match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359152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560320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560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59168" y="245059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residual ratings reflect remaining risk?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293522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controls bring risk to an acceptable level?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712464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46520" y="3913632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913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59168" y="380390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language clear and jargon-free?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9168" y="428853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any operative pick this up and understand it?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5065776"/>
            <a:ext cx="5394960" cy="1234440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5266944"/>
            <a:ext cx="475488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5266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59168" y="515721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 or wrong?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59168" y="564184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experience is valuable — add, remove, or improve entries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6492240"/>
            <a:ext cx="10881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input is more valuable than a perfect document. There are no wrong answers here.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&amp; Legal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749040" cy="5669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Reviewer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(You)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Provide expert knowledge of the process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Validate entries against real-world practice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Flag gaps — add or remove items with reason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Named as a contributor in the document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Legally: a "consultant" — not the signatory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005840"/>
            <a:ext cx="3749040" cy="5669280"/>
          </a:xfrm>
          <a:prstGeom prst="rect">
            <a:avLst/>
          </a:prstGeom>
          <a:solidFill>
            <a:srgbClr val="1E4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097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Manager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Owns and manages the risk assessment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Signs off the final document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Consolidates all reviewer 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754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Maintains the register of assessments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5623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Accountable for document quality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005840"/>
            <a:ext cx="3749040" cy="5669280"/>
          </a:xfrm>
          <a:prstGeom prst="rect">
            <a:avLst/>
          </a:prstGeom>
          <a:solidFill>
            <a:srgbClr val="2E6A9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1097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Leader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148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Overall accountable person on site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Ensures assessments are suitable &amp; sufficient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3886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Champions the review process across teams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Drives implementation of control measures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5623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Escalation point for outstanding issues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Frequency &amp; What Happens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94560" y="2359152"/>
            <a:ext cx="123444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11680"/>
            <a:ext cx="1554480" cy="777240"/>
          </a:xfrm>
          <a:prstGeom prst="ellipse">
            <a:avLst/>
          </a:prstGeom>
          <a:solidFill>
            <a:srgbClr val="1A3C5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SME review — this is what you are doing right 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0" y="2359152"/>
            <a:ext cx="123444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011680"/>
            <a:ext cx="1554480" cy="7772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011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9718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reviewed following any accident or near-miss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359152"/>
            <a:ext cx="123444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011680"/>
            <a:ext cx="155448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011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9718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team review to capture new equipment, layouts &amp; processes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2011680"/>
            <a:ext cx="1554480" cy="7772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2011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(Minimum)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29718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minimum — risk assessments must always be kept current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11247120" cy="246888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519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for an Unplanned Review: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An accident, injury, or near-miss occurs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1846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New equipment or technology is introduced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601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The layout or design of the workspace changes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7091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New working practices or processes are implemented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1846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Changes in legislation or regulatory standards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C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9144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35661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team is here to support you throughout this whole process.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ask any questions — there are no wrong questions.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experience and knowledge make these documents better for everyone.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6035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Team  |  Windmill &amp; The Barn  | 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2026-08-05T13:02:57Z</dcterms:created>
  <dcterms:modified xsi:type="dcterms:W3CDTF">2026-08-05T13:02:57Z</dcterms:modified>
</cp:coreProperties>
</file>