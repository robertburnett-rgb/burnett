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182880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926080"/>
            <a:ext cx="2560320" cy="256032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LEITFADEN FÜR FACHEXPERTEN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132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Leitfaden zur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Gefährdungsbeurteilung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praktischer Leitfaden für Fachexperten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The Windmill &amp; The Barn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Gesundheits- und Sicherheitsteam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8F9"/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365760"/>
            <a:ext cx="3566160" cy="4389120"/>
          </a:xfrm>
          <a:prstGeom prst="roundRect">
            <a:avLst>
              <a:gd name="adj" fmla="val 3846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349240" y="77724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"Das tun Sie bereits dutzende Male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jeden Tag."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49240" y="23317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Mal, wenn Sie eine Straße überqueren, in den Spiegel schauen oder eine schwere Kiste heben – bewerten Sie bereits intuitiv Risiken.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Ziel ist es, diese natürliche Intuition strukturiert auf unseren Arbeitsplatz anzuwenden.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eine Gefährdungsbeurteilung?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5262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formelle Prüfung, dass unsere Prozesse so sicher wie vernünftigerweise möglich sind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Sicherheitsteam hat bereits 80–90 % des Dokuments vorbereitet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Rolle als Fachexperte: kalibrieren, validieren und verfeinern – nicht neu beginnen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Bleiben Sie praktisch: spiegeln Sie die tägliche Realität Ihrer Einrichtung wider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5-Schritte-Rahmen zur Gefährdungsbeurteilung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" y="1197864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13816" y="1197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Tätigkeit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3533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Aufgabe oder welchen Prozess beurteilen wir?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56232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39112" y="105156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0195A6"/>
          </a:solidFill>
          <a:ln/>
        </p:spPr>
      </p:sp>
      <p:sp>
        <p:nvSpPr>
          <p:cNvPr id="11" name="Shape 9"/>
          <p:cNvSpPr/>
          <p:nvPr/>
        </p:nvSpPr>
        <p:spPr>
          <a:xfrm>
            <a:off x="2532888" y="1197864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1197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30552" y="187452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Gefährdung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2651760"/>
            <a:ext cx="13533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könnte bei dieser Tätigkeit Schaden verursachen?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75304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58184" y="105156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1197864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197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9624" y="187452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Schaden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Verletzung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9624" y="2651760"/>
            <a:ext cx="13533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könnte verletzt werden, und wie schwerwiegend?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94376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77256" y="105156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8A83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71032" y="1197864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71032" y="1197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68696" y="187452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Erst-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bewertung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68696" y="2651760"/>
            <a:ext cx="13533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riskant ist es ohne Schutzmaßnahmen?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13448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96328" y="105156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1C6EA4"/>
          </a:solidFill>
          <a:ln/>
        </p:spPr>
      </p:sp>
      <p:sp>
        <p:nvSpPr>
          <p:cNvPr id="29" name="Shape 27"/>
          <p:cNvSpPr/>
          <p:nvPr/>
        </p:nvSpPr>
        <p:spPr>
          <a:xfrm>
            <a:off x="7690104" y="1197864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690104" y="1197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87768" y="1874520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Maßnahmen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Restrisiko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87768" y="2651760"/>
            <a:ext cx="13533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reduziert das Risiko, und um wie viel?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gleiche 5-Schritte-Logik gilt für jede Zeile der Gefährdungsbeurteilungstabelle.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8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Alltagsbeispiel: Eine Straße überqueren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5-Schritte-Rahmen angewendet auf ein alltägliches Szenario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44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 — TÄTIGKEIT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Straße überqueren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7540" y="12344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195A6"/>
          </a:solidFill>
          <a:ln/>
        </p:spPr>
      </p:sp>
      <p:sp>
        <p:nvSpPr>
          <p:cNvPr id="9" name="Text 7"/>
          <p:cNvSpPr/>
          <p:nvPr/>
        </p:nvSpPr>
        <p:spPr>
          <a:xfrm>
            <a:off x="3314700" y="1344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— GEFÄHRDUNG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14700" y="167335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Fahrende Fahrzeuge: PKW, LKW, Fahrräder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28A7A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344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 — SCHADEN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172200" y="167335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Angefahren werden: leichte Verletzung bis Todesfall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 — ERSTBEWERTUNG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336499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"Fast sicher" × "Tödlich"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SEHR HOHES RISIKO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77540" y="292608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31470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5 — MASSNAHMEN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14700" y="336499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Übergänge · Ampeln · Warnweste · Umschauen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92608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RESTRISIKO-BEWERTUNG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72200" y="336499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Wahrscheinlichkeit sinkt auf "Selten"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AKZEPTABLES RISIKO 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Risikobewertung: Wahrscheinlichkeitsskala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wahrscheinlich ist es, dass diese Gefährdung zu einem Schaden führt?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188720" y="1280160"/>
            <a:ext cx="2194560" cy="749808"/>
          </a:xfrm>
          <a:prstGeom prst="roundRect">
            <a:avLst>
              <a:gd name="adj" fmla="val 8537"/>
            </a:avLst>
          </a:prstGeom>
          <a:solidFill>
            <a:srgbClr val="4CAF50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Selten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137160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Tritt unter normalen Betriebsbedingungen höchst unwahrscheinlich auf.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F9C74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76272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188720" y="2176272"/>
            <a:ext cx="2194560" cy="749808"/>
          </a:xfrm>
          <a:prstGeom prst="roundRect">
            <a:avLst>
              <a:gd name="adj" fmla="val 8537"/>
            </a:avLst>
          </a:prstGeom>
          <a:solidFill>
            <a:srgbClr val="F9C74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17627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Möglich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26771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zu einem bestimmten Zeitpunkt auftreten; unter bestimmten Umständen plausibel.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F4841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7238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188720" y="3072384"/>
            <a:ext cx="2194560" cy="749808"/>
          </a:xfrm>
          <a:prstGeom prst="roundRect">
            <a:avLst>
              <a:gd name="adj" fmla="val 8537"/>
            </a:avLst>
          </a:prstGeom>
          <a:solidFill>
            <a:srgbClr val="F4841E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07238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Wahrscheinlich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316382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 Wahrscheinlichkeit des Auftretens, wenn unkontrolliert oder bei Routineaufgaben.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68496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188720" y="3968496"/>
            <a:ext cx="2194560" cy="749808"/>
          </a:xfrm>
          <a:prstGeom prst="roundRect">
            <a:avLst>
              <a:gd name="adj" fmla="val 8537"/>
            </a:avLst>
          </a:prstGeom>
          <a:solidFill>
            <a:srgbClr val="E63946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396849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sicher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405993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Tritt voraussichtlich häufig auf oder ist ohne Maßnahmen nahezu garantiert.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8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Risikobewertung: Schweregradskala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schwerwiegend wäre der Schaden, wenn diese Gefährdung einen Vorfall verursacht?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188720" y="1280160"/>
            <a:ext cx="2194560" cy="749808"/>
          </a:xfrm>
          <a:prstGeom prst="roundRect">
            <a:avLst>
              <a:gd name="adj" fmla="val 8537"/>
            </a:avLst>
          </a:prstGeom>
          <a:solidFill>
            <a:srgbClr val="4CAF50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Leichte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Verletzung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137160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Erste-Hilfe-Behandlung – Schnitte, leichte Abschürfungen. Keine Ausfallzeiten.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F9C74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76272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188720" y="2176272"/>
            <a:ext cx="2194560" cy="749808"/>
          </a:xfrm>
          <a:prstGeom prst="roundRect">
            <a:avLst>
              <a:gd name="adj" fmla="val 8537"/>
            </a:avLst>
          </a:prstGeom>
          <a:solidFill>
            <a:srgbClr val="F9C74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17627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Ausfalltage-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Verletzung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26771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Medizinische Behandlung oder Auszeit erforderlich (z. B. Frakturen, Gehirnerschütterungen).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F4841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7238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188720" y="3072384"/>
            <a:ext cx="2194560" cy="749808"/>
          </a:xfrm>
          <a:prstGeom prst="roundRect">
            <a:avLst>
              <a:gd name="adj" fmla="val 8537"/>
            </a:avLst>
          </a:prstGeom>
          <a:solidFill>
            <a:srgbClr val="F4841E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07238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Lebens-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verändernde Verl.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316382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Dauerhafte oder schwere Behinderung – Lähmung, Gliedmaßenverlust, dauerhafte Gehhilfen.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68496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188720" y="3968496"/>
            <a:ext cx="2194560" cy="749808"/>
          </a:xfrm>
          <a:prstGeom prst="roundRect">
            <a:avLst>
              <a:gd name="adj" fmla="val 8537"/>
            </a:avLst>
          </a:prstGeom>
          <a:solidFill>
            <a:srgbClr val="E63946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396849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Todesfall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405993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Einzelner oder mehrfacher Todesfall.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Maßnahmen in der Praxis: Flurförderfahrzeuge &amp; Laderampe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Praxisbeispiel aus Eingang/Ausgang – die gleiche Logik gilt für alle Betriebsbereiche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749040" cy="3520440"/>
          </a:xfrm>
          <a:prstGeom prst="roundRect">
            <a:avLst>
              <a:gd name="adj" fmla="val 2597"/>
            </a:avLst>
          </a:prstGeom>
          <a:solidFill>
            <a:srgbClr val="E63946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89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Hauptgefährdungen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Fußgänger wird von fahrendem Flurförderfahrzeug oder Gabelstapler erfasst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Ungesicherte Lasten fallen beim Transport an Laderampen herunter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23444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4CAF50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3898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Schutzmaßnahmen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90195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Abgegrenzte Fußgängerwege &amp; physische Schutzbarrieren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Flurförderfahrzeug oder ein Fußgänger im Anhänger – niemals beide gleichzeitig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Pflichthupen an allen unübersichtlichen Stellen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Standardbeleuchtung wird aufrechterhalten &amp; automatisch repariert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Pflicht: Warnweste &amp; Sicherheitsschuhe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lizenzierte, geschulte &amp; geprüfte Fahrzeugbediener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Striktes Laufverbot in allen Betriebsbereichen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8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 4-Schritte-Überprüfungsprozess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Sie die Gefährdungsbeurteilungstabelle öffnen, arbeiten Sie diese Schritte der Reihe nach durch: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7764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447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Vollständigkeit der Gefährdungen prüfen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611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 alle wesentlichen, realistischen Verletzungswege erfasst? Bleiben Sie auf oberster Ebene – verkomplizieren Sie es nicht durch jede kleine Variation.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397764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4447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Beschreibungen &amp; Logik validieren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611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Spiegeln die Beschreibungen von Tätigkeit, Gefährdung und Schaden die aktuellen Geräte und Prozesse an Ihrem Standort genau wider?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397764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64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Wirklichkeit der Maßnahmen prüfen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913632"/>
            <a:ext cx="3611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Sie: "Wird diese Maßnahme täglich in der Praxis umgesetzt?" JA = bestätigen. NEIN oder UNKLAR = markieren, damit Nachschulungen vereinbart werden können.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163824"/>
            <a:ext cx="397764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33467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364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Ergänzungen oder Streichungen vorschlagen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913632"/>
            <a:ext cx="3611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Fügen Sie standortspezifische Nuancen hinzu. Entfernen Sie nicht relevante Zeilen. Geben Sie immer einen klaren betrieblichen Grund für Änderungen an.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Ihre Rolle &amp; Rechtliche Position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028090">
              <a:alpha val="9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Ihre Rolle als Fachexperte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Betrieblicher Berater &amp; Coach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Bringen Sie Ihr praktisches Tageswissen ein, um das Dokument zu validieren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 Sie sicher, dass die Beurteilung die Realität Ihrer Einrichtung widerspiegelt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 ehrlich kennzeichnen – das ist der Sinn der Überprüfung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02C39A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170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1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Rechtliche Haftung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73736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373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 tragen KEINE rechtliche Haftung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primäre rechtliche Verantwortung liegt bei: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309067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Sicherheitsmanager – Dokumenteneigentümer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Standortleiter – operative Verantwortung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24528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05445E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2452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Tipp: Halten Sie den Text prägnant. Weniger, klarere Seiten sind für Mitarbeiter und externe Prüfer weitaus effektiver.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286000"/>
            <a:ext cx="5029200" cy="50292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Überprüfungszyklen &amp; Auslöser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028090">
              <a:alpha val="2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Jährlich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Ziel-Überprüfungszyklus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alle Beurteilungen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028090">
              <a:alpha val="2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430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Jahre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93852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Vorgeschriebenes Maximum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Überprüfungen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028090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1430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Sofort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93852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Erforderlich nach Unfällen,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Beinahe-Unfällen oder Prozessänderungen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löst eine sofortige Überprüfung aus: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Unfall oder Beinahe-Unfall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Prozessumbau oder Aufgabenänderung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 des Betriebslayouts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neuer Geräte oder Maschinen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Unterstützung oder Fragen wenden Sie sich an Ihr lokales Gesundheits- und Sicherheitsteam.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2026-08-20T15:48:27Z</dcterms:created>
  <dcterms:modified xsi:type="dcterms:W3CDTF">2026-08-20T15:48:27Z</dcterms:modified>
</cp:coreProperties>
</file>